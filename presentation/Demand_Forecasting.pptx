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6A-499B-B39C-89457F3CEC4E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6A-499B-B39C-89457F3CEC4E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6A-499B-B39C-89457F3CEC4E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6A-499B-B39C-89457F3CEC4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 (MA)</c:v>
                </c:pt>
                <c:pt idx="1">
                  <c:v>Sezonski naivni</c:v>
                </c:pt>
                <c:pt idx="2">
                  <c:v>LightGBM</c:v>
                </c:pt>
                <c:pt idx="3">
                  <c:v>Ensemble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37</c:v>
                </c:pt>
                <c:pt idx="2">
                  <c:v>19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A6A-499B-B39C-89457F3CEC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54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mandfio.streamlit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0EA5E9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ISZPO · INDIVIDUALNI PROJEKAT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Forecasting &amp;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Inventory Optimization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Predviđanje potražnje i optimizacija zaliha — „Koliko da naručimo?“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34340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Filip Aligrudic 23/032</a:t>
            </a:r>
            <a:b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5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Fakultet</a:t>
            </a: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UDG-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Fakultet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za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informacione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sisteme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tehnologije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 forecasting  ·  EOQ optimizacija  ·  SHAP objašnjenja  ·  Streamlit dashboard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Višak ili manjak — oba koštaju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23650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Previše zaliha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401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Zarobljen kapital, trošak skladištenja, rizik od kvarenja robe.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40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C2626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724" y="23650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Premalo zaliha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0" y="3401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Izgubljena prodaja, nezadovoljni kupci, odlazak konkurenciji.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83880" y="192024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5820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Odluka se donosi „od oka“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458200" y="27889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Planiranje u Excel-u je sporo, subjektivno i ne skalira na hiljade artikala u stotinama prodavnica.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Primjer:  </a:t>
            </a: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lanac sa 1.000 artikala × 100 prodavnica = 100.000 odluka o narudžbi — ručno, svake sedmice.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PREDLOŽENO RJEŠENJE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Jedan alat — od podataka do narudžbenice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6900" y="1775889"/>
            <a:ext cx="462659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3603" y="1981629"/>
            <a:ext cx="4626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koji predviđa potražnju i preporučuje tačnu količinu narudžbe — sa objašnjenjem i simulacijom scenarija.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6770" y="3383280"/>
            <a:ext cx="954634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34115" y="3383058"/>
            <a:ext cx="95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45996" y="3383280"/>
            <a:ext cx="1839773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345996" y="3383280"/>
            <a:ext cx="1839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 zaliha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6770" y="3986784"/>
            <a:ext cx="1196035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26770" y="3986784"/>
            <a:ext cx="1196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Objašnjenja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87397" y="3986784"/>
            <a:ext cx="1276502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397" y="3986784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6900" y="4615590"/>
            <a:ext cx="415652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Sve kroz čist dashboard — bez pisanja koda. Korisnik dobije prognozu s rasponom, preporučenu količinu i Excel narudžbenicu.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35258" y="1783080"/>
            <a:ext cx="6596330" cy="4589312"/>
          </a:xfrm>
          <a:prstGeom prst="roundRect">
            <a:avLst>
              <a:gd name="adj" fmla="val 902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40201" y="1699142"/>
            <a:ext cx="6991387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59119" y="1830442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2855" y="1822629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546591" y="1821765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SCREENSHOT: Forecast prikaz — linija prodaje + interval pouzdanosti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CC4A6A-AC55-3171-D7E8-371AEFA36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00" y="2083190"/>
            <a:ext cx="6991387" cy="4351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CILJEVI PROJEKTA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Šta sam želio da postignem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506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GLAVNI CILJ   </a:t>
            </a: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Pretvoriti istoriju prodaje u konkretnu preporuku narudžbe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Tačan forecast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proizvodu i prodavnici, s intervalom pouzdanosti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46704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21024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621024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21024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Optimalna količina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21024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safety stock i reorder point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44768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19088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419088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9088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Transparentnost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19088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objašnjava zašto baš toliko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42832" y="3108960"/>
            <a:ext cx="2615184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17152" y="338328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9217152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7152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 simulacija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217152" y="4617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promocija, cijena, lead time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KAKO SISTEM FUNKCIONIŠE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 podataka do odluke — u pet koraka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CSV / demo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podaci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učitavanje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78024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79776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71216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Čišćenje +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eng.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71216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feature-a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56632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2395728"/>
            <a:ext cx="512064" cy="512064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48072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 modeli +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intervali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4807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LightGBM, HW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31736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33488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74152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4928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zaliha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24928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SS, ROP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08592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610344" y="2651760"/>
            <a:ext cx="1993392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51008" y="23957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5100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01784" y="30632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4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export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01784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/ Excel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Korisnik prati svaki korak kroz zasebne prikaze u dashboardu.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GLAVNE FUNKCIONALNOSTI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Šest stubova aplikacije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Prognoza potražnje sa intervalom pouzdanosti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269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 zaliha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456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EOQ, safety stock i reorder point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89" y="2178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0756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Detekcija anomalija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47888" y="27157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Automatsko otkrivanje skokova i padova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9" y="41440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SHAP objašnjenja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124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Koji faktori najviše utiču na potražnju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5196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269" y="41440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 simulacija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4456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Promocija, cijena i lead time scenariji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955280" y="3749040"/>
            <a:ext cx="3456432" cy="175564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23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8589" y="414406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041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47888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Automatski izvještaj + Excel / CSV export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2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2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TEHNOLOGIJE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Tehnološki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836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00436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 / UI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7830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Streamlit + Plotly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0" y="17830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Brz, interaktivni dashboard bez klasičnog web razvoja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7523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287304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651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Logika / podaci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6517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 · pandas · numpy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0" y="2651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za obradu tabelarnih podataka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6210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3741725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5204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749040" y="3520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LightGBM · scikit-learn · statsmodels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498080" y="35204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Tačni i brzi modeli za tabelarne vremenske serije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389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448970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4610405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3891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Objašnjivost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749040" y="43891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SHAP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98080" y="43891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Egzaktno objašnjenje svake predikcije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2578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53583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1" y="5479085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5257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Export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749040" y="5257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openpyxl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498080" y="52578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Narudžbenica direktno u Excel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2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ARHITEKTURA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Modularno i pregledno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0560" y="1691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Korisnik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upload CSV · izbor proizvoda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2578608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5786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Streamlit dashboard  +  Plotly grafici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src /  Python moduli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913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913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4485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data_processing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485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čišćenje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4505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4505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09077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feature_eng.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9077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feature-a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9097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097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73669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3669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 + HW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3689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3689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38261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inventory_opt.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8261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EOQ · SS · ROP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8281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281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702853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anomaly_detect.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2853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2873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2873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867445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7445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74656" y="3840480"/>
            <a:ext cx="1517904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74656" y="3840480"/>
            <a:ext cx="1517904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10320376" y="40416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order_generator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320376" y="449884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narudžbenica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2160" y="4956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14800" y="5285232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0" y="5285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Izlaz:  tabela + CSV / Excel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KLJUČNE TEHNIČKE ODLUKE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 odluke koje su napravile razliku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leakage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shift(1) na rolling feature-ima; izbačena kolona Customers (same-day informacija).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3659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ne vidi budućnost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15" name="Shape 12"/>
          <p:cNvSpPr/>
          <p:nvPr/>
        </p:nvSpPr>
        <p:spPr>
          <a:xfrm>
            <a:off x="425196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262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Pošteno mjerenje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26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2628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Rekurzivni forecast + rolling-origin kros-validacija na neviđenim prozorima.</a:t>
            </a:r>
            <a:endParaRPr lang="en-US" sz="13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73659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Realna, ne lažna tačnost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955280" y="182880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55280" y="1828800"/>
            <a:ext cx="345643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/>
        </p:spPr>
      </p:sp>
      <p:sp>
        <p:nvSpPr>
          <p:cNvPr id="24" name="Shape 20"/>
          <p:cNvSpPr/>
          <p:nvPr/>
        </p:nvSpPr>
        <p:spPr>
          <a:xfrm>
            <a:off x="7955280" y="2331720"/>
            <a:ext cx="3456432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IZAZOV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2960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Intervali pouzdanosti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22960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RJEŠENJE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22960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Quantile LightGBM (10% / 90% percentil) umjesto jedne tačke.</a:t>
            </a:r>
            <a:endParaRPr lang="en-US" sz="13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736592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9536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Raspon, ne lažna preciznost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 Prophet ne radi na Python 3.13 → napravljen opcionim, ulogu sezonskog modela preuzima Holt-Winters u ensemble-u.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3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41248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Kompletan tok rada — uživo u aplikaciji  ·  ~3 minuta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Prognoza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interval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52044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7490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Optimizacija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zaliha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9516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What-if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promocija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915400" y="4297680"/>
            <a:ext cx="2423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0" y="4498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92640" y="446227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Narudžbenica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Excel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2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2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REZULTATI I VRIJEDNOST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Mjerljivo bolje od ručnog planiranja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Greška prognoze (MAPE %) — backtest na 28 dana, manje je bolje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03120"/>
          <a:ext cx="6583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2057400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43800" y="2057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~14%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09828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 — rolling-origin CV (LightGBM)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3136392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313639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 / 26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098280" y="31363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 prošlo automatski test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60920" y="4215384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43800" y="421538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&gt;2×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098280" y="42153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manja greška od naivnog pristupa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60920" y="534924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Niži troškovi zaliha  ·  manje stockout-a  ·  brže i objašnjivo odlučivanje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/>
              <a:t>Rezultati</a:t>
            </a:r>
            <a:r>
              <a:rPr lang="en-US" sz="1050" i="1" dirty="0"/>
              <a:t> </a:t>
            </a:r>
            <a:r>
              <a:rPr lang="en-US" sz="1050" i="1" dirty="0" err="1"/>
              <a:t>su</a:t>
            </a:r>
            <a:r>
              <a:rPr lang="en-US" sz="1050" i="1" dirty="0"/>
              <a:t> </a:t>
            </a:r>
            <a:r>
              <a:rPr lang="en-US" sz="1050" i="1" dirty="0" err="1"/>
              <a:t>demonstracioni</a:t>
            </a:r>
            <a:r>
              <a:rPr lang="en-US" sz="1050" i="1" dirty="0"/>
              <a:t> — </a:t>
            </a:r>
            <a:r>
              <a:rPr lang="en-US" sz="1050" i="1" dirty="0" err="1"/>
              <a:t>dobijeni</a:t>
            </a:r>
            <a:r>
              <a:rPr lang="en-US" sz="1050" i="1" dirty="0"/>
              <a:t> </a:t>
            </a:r>
            <a:r>
              <a:rPr lang="en-US" sz="1050" i="1" dirty="0" err="1"/>
              <a:t>na</a:t>
            </a:r>
            <a:r>
              <a:rPr lang="en-US" sz="1050" i="1" dirty="0"/>
              <a:t> Rossmann demo </a:t>
            </a:r>
            <a:r>
              <a:rPr lang="en-US" sz="1050" i="1" dirty="0" err="1"/>
              <a:t>datasetu</a:t>
            </a:r>
            <a:r>
              <a:rPr lang="en-US" sz="1050" i="1" dirty="0"/>
              <a:t> od 30 </a:t>
            </a:r>
            <a:r>
              <a:rPr lang="en-US" sz="1050" i="1" dirty="0" err="1"/>
              <a:t>prodavnica</a:t>
            </a:r>
            <a:r>
              <a:rPr lang="en-US" sz="1050" i="1" dirty="0"/>
              <a:t>.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OGRANIČENJA I BUDUĆI RAZVOJ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Šta dalje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TRENUTNA OGRANIČENJA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Single-series modeli (model po proizvodu)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400" dirty="0"/>
              <a:t>Rossmann demo </a:t>
            </a:r>
            <a:r>
              <a:rPr lang="en-US" sz="1400" dirty="0" err="1"/>
              <a:t>koristi</a:t>
            </a:r>
            <a:r>
              <a:rPr lang="en-US" sz="1400" dirty="0"/>
              <a:t> 30 </a:t>
            </a:r>
            <a:r>
              <a:rPr lang="en-US" sz="1400" dirty="0" err="1"/>
              <a:t>prodavnica</a:t>
            </a:r>
            <a:r>
              <a:rPr lang="en-US" sz="1400" dirty="0"/>
              <a:t>; </a:t>
            </a:r>
            <a:r>
              <a:rPr lang="en-US" sz="1400" dirty="0" err="1"/>
              <a:t>puni</a:t>
            </a:r>
            <a:r>
              <a:rPr lang="en-US" sz="1400" dirty="0"/>
              <a:t> dataset </a:t>
            </a:r>
            <a:r>
              <a:rPr lang="en-US" sz="1400" dirty="0" err="1"/>
              <a:t>ima</a:t>
            </a:r>
            <a:r>
              <a:rPr lang="en-US" sz="1400" dirty="0"/>
              <a:t> 1115 </a:t>
            </a:r>
            <a:r>
              <a:rPr lang="en-US" sz="1400" dirty="0" err="1"/>
              <a:t>prodavnica</a:t>
            </a:r>
            <a:r>
              <a:rPr lang="en-US" sz="1400" dirty="0"/>
              <a:t>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File-based ulaz/izlaz, bez baze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Pojednostavljena elastičnost u what-if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Bez autentikacije / više korisnika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2356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611112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31152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BUDUĆI RAZVOJ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76872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Napredni modeli: LSTM / DeepAR / TFT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76872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Hijerarhijski forecast + reconciliation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76872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Baza podataka + live ingestion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76872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Optimizacija kalendara promocija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76872" y="4800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3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test: preporuke vs stvarne narudžbe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Modularna arhitektura omogućava dogradnju bez prepravke cijelog sistema.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7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9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6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350"/>
                                        <p:tgtEl>
                                          <p:spTgt spid="1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„Koliko da naručimo?“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Sada imamo odgovor.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57530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158240" y="3451861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 </a:t>
            </a: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skup višak ili manjak zaliha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4178808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158240" y="40462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Rješenje:  </a:t>
            </a: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+ EOQ + objašnjenje + narudžbenica — u jednom alatu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47823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58240" y="4647439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Vrijednost:  </a:t>
            </a:r>
            <a:r>
              <a:rPr lang="en-US" sz="15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niži troškovi, manje stockout-a, brže i objašnjivo odlučivanje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Hvala na pažnji   ·   Pitanja?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Forecasting &amp; Inventory Optimization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350"/>
                                        <p:tgtEl>
                                          <p:spTgt spid="3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50"/>
                                        <p:tgtEl>
                                          <p:spTgt spid="6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54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0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  <p:from x="62000" y="6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905</Words>
  <Application>Microsoft Office PowerPoint</Application>
  <PresentationFormat>Widescreen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&amp; Inventory Optimization</dc:title>
  <dc:subject>PptxGenJS Presentation</dc:subject>
  <dc:creator>ISZPO 2026</dc:creator>
  <cp:lastModifiedBy>Filip Aligrudic</cp:lastModifiedBy>
  <cp:revision>5</cp:revision>
  <dcterms:created xsi:type="dcterms:W3CDTF">2026-06-07T13:08:32Z</dcterms:created>
  <dcterms:modified xsi:type="dcterms:W3CDTF">2026-06-12T15:12:54Z</dcterms:modified>
</cp:coreProperties>
</file>