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MAPE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Baseline (MA)</c:v>
                  </c:pt>
                  <c:pt idx="1">
                    <c:v>Sezonski naivni</c:v>
                  </c:pt>
                  <c:pt idx="2">
                    <c:v>LightGBM</c:v>
                  </c:pt>
                  <c:pt idx="3">
                    <c:v>Ensemble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</c:v>
                </c:pt>
                <c:pt idx="1">
                  <c:v>37</c:v>
                </c:pt>
                <c:pt idx="2">
                  <c:v>19</c:v>
                </c:pt>
                <c:pt idx="3">
                  <c:v>19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572000" cy="4572000"/>
          </a:xfrm>
          <a:prstGeom prst="ellipse">
            <a:avLst/>
          </a:prstGeom>
          <a:solidFill>
            <a:srgbClr val="2563E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840480"/>
            <a:ext cx="3291840" cy="3291840"/>
          </a:xfrm>
          <a:prstGeom prst="ellipse">
            <a:avLst/>
          </a:prstGeom>
          <a:solidFill>
            <a:srgbClr val="0EA5E9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A5E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ISZPO · INDIVIDUALNI PROJEKAT ·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Demand Forecasting &amp;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Inventory Optimization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Predviđanje potražnje i optimizacija zaliha — „Koliko da naručimo?“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41248" y="4343400"/>
            <a:ext cx="128016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709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Autor: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[Ime i prezime]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LightGBM forecasting  ·  EOQ optimizacija  ·  SHAP objašnjenja  ·  Streamlit dashboard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14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350"/>
                                        <p:tgtEl>
                                          <p:spTgt spid="4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18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350"/>
                                        <p:tgtEl>
                                          <p:spTgt spid="5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36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350"/>
                                        <p:tgtEl>
                                          <p:spTgt spid="6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54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350"/>
                                        <p:tgtEl>
                                          <p:spTgt spid="8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72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350"/>
                                        <p:tgtEl>
                                          <p:spTgt spid="9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Višak ili manjak — oba koštaju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402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D97706"/>
          </a:solidFill>
          <a:ln/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404" y="2365004"/>
            <a:ext cx="317480" cy="317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9718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Previše zaliha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340156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Zarobljen kapital, trošak skladištenja, rizik od kvarenja robe.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251960" y="192024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22402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DC2626"/>
          </a:solidFill>
          <a:ln/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6724" y="2365004"/>
            <a:ext cx="317480" cy="317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9718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Premalo zaliha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572000" y="340156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Izgubljena prodaja, nezadovoljni kupci, odlazak konkurenciji.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183880" y="1920240"/>
            <a:ext cx="3456432" cy="2286000"/>
          </a:xfrm>
          <a:prstGeom prst="roundRect">
            <a:avLst>
              <a:gd name="adj" fmla="val 4800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8458200" y="2240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Odluka se donosi „od oka“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8458200" y="278892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Planiranje u Excel-u je sporo, subjektivno i ne skalira na hiljade artikala u stotinama prodavnica.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548640" y="4800600"/>
            <a:ext cx="11064240" cy="64008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Primjer:  </a:t>
            </a:r>
            <a:pPr algn="ctr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lanac sa 1.000 artikala × 100 prodavnica = 100.000 odluka o narudžbi — ručno, svake sedmice.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Demand Forecasting &amp; Inventory Optimization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0817352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14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350"/>
                                        <p:tgtEl>
                                          <p:spTgt spid="2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18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350"/>
                                        <p:tgtEl>
                                          <p:spTgt spid="3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36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350"/>
                                        <p:tgtEl>
                                          <p:spTgt spid="7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54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350"/>
                                        <p:tgtEl>
                                          <p:spTgt spid="8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72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350"/>
                                        <p:tgtEl>
                                          <p:spTgt spid="12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90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350"/>
                                        <p:tgtEl>
                                          <p:spTgt spid="13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108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350"/>
                                        <p:tgtEl>
                                          <p:spTgt spid="15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126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350"/>
                                        <p:tgtEl>
                                          <p:spTgt spid="16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144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350"/>
                                        <p:tgtEl>
                                          <p:spTgt spid="17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162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9" dur="350"/>
                                        <p:tgtEl>
                                          <p:spTgt spid="18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PREDLOŽENO RJEŠENJE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Jedan alat — od podataka do narudžbenice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1168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 koji predviđa potražnju i preporučuje tačnu količinu narudžbe — sa objašnjenjem i simulacijom scenarija.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954634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383280"/>
            <a:ext cx="9546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Forecast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667866" y="3383280"/>
            <a:ext cx="1839773" cy="4572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1667866" y="3383280"/>
            <a:ext cx="18397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Optimizacija zaliha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986784"/>
            <a:ext cx="1196035" cy="4572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986784"/>
            <a:ext cx="11960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Objašnjenja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909267" y="3986784"/>
            <a:ext cx="1276502" cy="4572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1909267" y="3986784"/>
            <a:ext cx="12765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Narudžbenica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466344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Sve kroz čist dashboard — bez pisanja koda. Korisnik dobije prognozu s rasponom, preporučenu količinu i Excel narudžbenicu.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0" y="1783080"/>
            <a:ext cx="5239512" cy="4160520"/>
          </a:xfrm>
          <a:prstGeom prst="roundRect">
            <a:avLst>
              <a:gd name="adj" fmla="val 2198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1783080"/>
            <a:ext cx="5239512" cy="38404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7" name="Shape 15"/>
          <p:cNvSpPr/>
          <p:nvPr/>
        </p:nvSpPr>
        <p:spPr>
          <a:xfrm>
            <a:off x="6601968" y="1892808"/>
            <a:ext cx="146304" cy="14630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8" name="Shape 16"/>
          <p:cNvSpPr/>
          <p:nvPr/>
        </p:nvSpPr>
        <p:spPr>
          <a:xfrm>
            <a:off x="6812280" y="1892808"/>
            <a:ext cx="146304" cy="14630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9" name="Shape 17"/>
          <p:cNvSpPr/>
          <p:nvPr/>
        </p:nvSpPr>
        <p:spPr>
          <a:xfrm>
            <a:off x="7022592" y="1892808"/>
            <a:ext cx="146304" cy="14630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34747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SCREENSHOT: Forecast prikaz — linija prodaje + interval pouzdanosti ]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Demand Forecasting &amp; Inventory Optimization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17352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14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350"/>
                                        <p:tgtEl>
                                          <p:spTgt spid="2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18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350"/>
                                        <p:tgtEl>
                                          <p:spTgt spid="3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36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350"/>
                                        <p:tgtEl>
                                          <p:spTgt spid="5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54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350"/>
                                        <p:tgtEl>
                                          <p:spTgt spid="7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72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350"/>
                                        <p:tgtEl>
                                          <p:spTgt spid="9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90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350"/>
                                        <p:tgtEl>
                                          <p:spTgt spid="11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108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350"/>
                                        <p:tgtEl>
                                          <p:spTgt spid="13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126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350"/>
                                        <p:tgtEl>
                                          <p:spTgt spid="14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144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350"/>
                                        <p:tgtEl>
                                          <p:spTgt spid="20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162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9" dur="350"/>
                                        <p:tgtEl>
                                          <p:spTgt spid="21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CILJEVI PROJEKTA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Šta sam želio da postignem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1051560"/>
          </a:xfrm>
          <a:prstGeom prst="roundRect">
            <a:avLst>
              <a:gd name="adj" fmla="val 10435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2996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215066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83080"/>
            <a:ext cx="9875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GLAVNI CILJ 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Pretvoriti istoriju prodaje u konkretnu preporuku narudžbe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3108960"/>
            <a:ext cx="2615184" cy="2423160"/>
          </a:xfrm>
          <a:prstGeom prst="roundRect">
            <a:avLst>
              <a:gd name="adj" fmla="val 45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3383280"/>
            <a:ext cx="603504" cy="60350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33832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22960" y="4160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Tačan forecast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46177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 proizvodu i prodavnici, s intervalom pouzdanosti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346704" y="3108960"/>
            <a:ext cx="2615184" cy="2423160"/>
          </a:xfrm>
          <a:prstGeom prst="roundRect">
            <a:avLst>
              <a:gd name="adj" fmla="val 45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621024" y="3383280"/>
            <a:ext cx="603504" cy="60350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2"/>
          <p:cNvSpPr/>
          <p:nvPr/>
        </p:nvSpPr>
        <p:spPr>
          <a:xfrm>
            <a:off x="3621024" y="33832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3621024" y="4160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Optimalna količina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621024" y="46177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EOQ, safety stock i reorder point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144768" y="3108960"/>
            <a:ext cx="2615184" cy="2423160"/>
          </a:xfrm>
          <a:prstGeom prst="roundRect">
            <a:avLst>
              <a:gd name="adj" fmla="val 45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19088" y="3383280"/>
            <a:ext cx="603504" cy="60350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7"/>
          <p:cNvSpPr/>
          <p:nvPr/>
        </p:nvSpPr>
        <p:spPr>
          <a:xfrm>
            <a:off x="6419088" y="33832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419088" y="4160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Transparentnost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419088" y="46177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SHAP objašnjava zašto baš toliko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8942832" y="3108960"/>
            <a:ext cx="2615184" cy="2423160"/>
          </a:xfrm>
          <a:prstGeom prst="roundRect">
            <a:avLst>
              <a:gd name="adj" fmla="val 45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9217152" y="3383280"/>
            <a:ext cx="603504" cy="60350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5" name="Text 22"/>
          <p:cNvSpPr/>
          <p:nvPr/>
        </p:nvSpPr>
        <p:spPr>
          <a:xfrm>
            <a:off x="9217152" y="33832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9217152" y="4160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What-if simulacija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9217152" y="46177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promocija, cijena, lead time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Demand Forecasting &amp; Inventory Optimization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817352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14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350"/>
                                        <p:tgtEl>
                                          <p:spTgt spid="2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18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350"/>
                                        <p:tgtEl>
                                          <p:spTgt spid="3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36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350"/>
                                        <p:tgtEl>
                                          <p:spTgt spid="7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54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350"/>
                                        <p:tgtEl>
                                          <p:spTgt spid="10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72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350"/>
                                        <p:tgtEl>
                                          <p:spTgt spid="11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90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350"/>
                                        <p:tgtEl>
                                          <p:spTgt spid="12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108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350"/>
                                        <p:tgtEl>
                                          <p:spTgt spid="15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126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350"/>
                                        <p:tgtEl>
                                          <p:spTgt spid="16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144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350"/>
                                        <p:tgtEl>
                                          <p:spTgt spid="17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162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9" dur="350"/>
                                        <p:tgtEl>
                                          <p:spTgt spid="20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KAKO SISTEM FUNKCIONIŠE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Od podataka do odluke — u pet koraka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2651760"/>
            <a:ext cx="1993392" cy="173736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43584" y="2395728"/>
            <a:ext cx="512064" cy="512064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43584" y="23957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306324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CSV / demo</a:t>
            </a:r>
            <a:endParaRPr lang="en-US" sz="14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podaci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94360" y="384048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učitavanje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478024" y="306324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›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2779776" y="2651760"/>
            <a:ext cx="1993392" cy="173736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20440" y="2395728"/>
            <a:ext cx="512064" cy="512064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23957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871216" y="306324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Čišćenje +</a:t>
            </a:r>
            <a:endParaRPr lang="en-US" sz="14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feature eng.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871216" y="384048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 feature-a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54880" y="306324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›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5056632" y="2651760"/>
            <a:ext cx="1993392" cy="1737360"/>
          </a:xfrm>
          <a:prstGeom prst="roundRect">
            <a:avLst>
              <a:gd name="adj" fmla="val 631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97296" y="2395728"/>
            <a:ext cx="512064" cy="512064"/>
          </a:xfrm>
          <a:prstGeom prst="ellipse">
            <a:avLst/>
          </a:prstGeom>
          <a:solidFill>
            <a:srgbClr val="0F172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97296" y="23957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148072" y="306324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ML modeli +</a:t>
            </a:r>
            <a:endParaRPr lang="en-US" sz="14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intervali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148072" y="384048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LightGBM, HW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031736" y="306324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›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7333488" y="2651760"/>
            <a:ext cx="1993392" cy="173736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74152" y="2395728"/>
            <a:ext cx="512064" cy="512064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74152" y="23957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424928" y="306324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Optimizacija</a:t>
            </a:r>
            <a:endParaRPr lang="en-US" sz="14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zaliha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424928" y="384048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EOQ, SS, ROP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308592" y="306324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›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9610344" y="2651760"/>
            <a:ext cx="1993392" cy="173736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351008" y="2395728"/>
            <a:ext cx="512064" cy="512064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51008" y="23957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701784" y="306324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Narudžbenica</a:t>
            </a:r>
            <a:endParaRPr lang="en-US" sz="14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+ export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701784" y="384048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 / Excel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02920" y="49377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Korisnik prati svaki korak kroz zasebne prikaze u dashboardu.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Demand Forecasting &amp; Inventory Optimization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817352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14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350"/>
                                        <p:tgtEl>
                                          <p:spTgt spid="2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18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350"/>
                                        <p:tgtEl>
                                          <p:spTgt spid="3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36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350"/>
                                        <p:tgtEl>
                                          <p:spTgt spid="6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54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350"/>
                                        <p:tgtEl>
                                          <p:spTgt spid="7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72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350"/>
                                        <p:tgtEl>
                                          <p:spTgt spid="8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90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350"/>
                                        <p:tgtEl>
                                          <p:spTgt spid="9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108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350"/>
                                        <p:tgtEl>
                                          <p:spTgt spid="12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126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350"/>
                                        <p:tgtEl>
                                          <p:spTgt spid="13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144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350"/>
                                        <p:tgtEl>
                                          <p:spTgt spid="14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162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9" dur="350"/>
                                        <p:tgtEl>
                                          <p:spTgt spid="15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GLAVNE FUNKCIONALNOSTI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Šest stubova aplikacije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56432" cy="1755648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574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949" y="217810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07568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Forecast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1248" y="271576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Prognoza potražnje sa intervalom pouzdanosti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51960" y="1783080"/>
            <a:ext cx="3456432" cy="1755648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44568" y="20574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EA5E9"/>
          </a:solidFill>
          <a:ln/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5269" y="217810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57800" y="207568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Optimizacija zaliha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44568" y="271576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EOQ, safety stock i reorder point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955280" y="1783080"/>
            <a:ext cx="3456432" cy="1755648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47888" y="20574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/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8589" y="217810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61120" y="207568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Detekcija anomalija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247888" y="271576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Automatsko otkrivanje skokova i padova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3749040"/>
            <a:ext cx="3456432" cy="1755648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41248" y="40233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/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949" y="414406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404164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SHAP objašnjenja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841248" y="468172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Koji faktori najviše utiču na potražnju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251960" y="3749040"/>
            <a:ext cx="3456432" cy="1755648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44568" y="40233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/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5269" y="4144061"/>
            <a:ext cx="307238" cy="30723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57800" y="404164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What-if simulacija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544568" y="468172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Promocija, cijena i lead time scenariji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7955280" y="3749040"/>
            <a:ext cx="3456432" cy="1755648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47888" y="40233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8589" y="4144061"/>
            <a:ext cx="307238" cy="30723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61120" y="404164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Narudžbenica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8247888" y="468172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Automatski izvještaj + Excel / CSV export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Demand Forecasting &amp; Inventory Optimization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0817352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14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350"/>
                                        <p:tgtEl>
                                          <p:spTgt spid="2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18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350"/>
                                        <p:tgtEl>
                                          <p:spTgt spid="3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36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350"/>
                                        <p:tgtEl>
                                          <p:spTgt spid="7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54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350"/>
                                        <p:tgtEl>
                                          <p:spTgt spid="8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72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350"/>
                                        <p:tgtEl>
                                          <p:spTgt spid="12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90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350"/>
                                        <p:tgtEl>
                                          <p:spTgt spid="13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108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350"/>
                                        <p:tgtEl>
                                          <p:spTgt spid="17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126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350"/>
                                        <p:tgtEl>
                                          <p:spTgt spid="18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144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350"/>
                                        <p:tgtEl>
                                          <p:spTgt spid="22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162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9" dur="350"/>
                                        <p:tgtEl>
                                          <p:spTgt spid="23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TEHNOLOGIJE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Tehnološki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8366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2004365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8308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Frontend / UI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749040" y="178308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Streamlit + Plotly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498080" y="1783080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Brz, interaktivni dashboard bez klasičnog web razvoja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651760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" y="275234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221" y="2873045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265176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Logika / podaci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749040" y="265176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Python · pandas · numpy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7498080" y="2651760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 za obradu tabelarnih podataka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3520440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31520" y="36210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1" y="3741725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63040" y="352044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3749040" y="352044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LightGBM · scikit-learn · statsmodels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7498080" y="3520440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Tačni i brzi modeli za tabelarne vremenske serije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48640" y="4389120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31520" y="448970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221" y="4610405"/>
            <a:ext cx="307238" cy="30723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63040" y="438912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Objašnjivost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3749040" y="438912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SHAP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7498080" y="4389120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Egzaktno objašnjenje svake predikcije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548640" y="5257800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731520" y="535838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1" y="5479085"/>
            <a:ext cx="307238" cy="30723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463040" y="525780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Export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3749040" y="525780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openpyxl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7498080" y="5257800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Narudžbenica direktno u Excel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Demand Forecasting &amp; Inventory Optimization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0817352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14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350"/>
                                        <p:tgtEl>
                                          <p:spTgt spid="2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18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350"/>
                                        <p:tgtEl>
                                          <p:spTgt spid="3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36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350"/>
                                        <p:tgtEl>
                                          <p:spTgt spid="7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54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350"/>
                                        <p:tgtEl>
                                          <p:spTgt spid="8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72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350"/>
                                        <p:tgtEl>
                                          <p:spTgt spid="9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90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350"/>
                                        <p:tgtEl>
                                          <p:spTgt spid="13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108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350"/>
                                        <p:tgtEl>
                                          <p:spTgt spid="14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126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350"/>
                                        <p:tgtEl>
                                          <p:spTgt spid="15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144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350"/>
                                        <p:tgtEl>
                                          <p:spTgt spid="19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162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9" dur="350"/>
                                        <p:tgtEl>
                                          <p:spTgt spid="20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ARHITEKTURA SISTEMA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Modularno i pregledno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480560" y="1691640"/>
            <a:ext cx="3200400" cy="566928"/>
          </a:xfrm>
          <a:prstGeom prst="roundRect">
            <a:avLst>
              <a:gd name="adj" fmla="val 1612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480560" y="169164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Korisnik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480560" y="22677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  upload CSV · izbor proizvoda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566160" y="2578608"/>
            <a:ext cx="5029200" cy="566928"/>
          </a:xfrm>
          <a:prstGeom prst="roundRect">
            <a:avLst>
              <a:gd name="adj" fmla="val 161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66160" y="2578608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Streamlit dashboard  +  Plotly grafici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85216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45643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src /  Python moduli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9136" y="3840480"/>
            <a:ext cx="1517904" cy="1051560"/>
          </a:xfrm>
          <a:prstGeom prst="roundRect">
            <a:avLst>
              <a:gd name="adj" fmla="val 78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99136" y="3840480"/>
            <a:ext cx="1517904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444856" y="4041648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data_processing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44856" y="4498848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čišćenje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045056" y="3840480"/>
            <a:ext cx="1517904" cy="1051560"/>
          </a:xfrm>
          <a:prstGeom prst="roundRect">
            <a:avLst>
              <a:gd name="adj" fmla="val 78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45056" y="3840480"/>
            <a:ext cx="1517904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2090776" y="4041648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feature_eng.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090776" y="4498848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 feature-a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90976" y="3840480"/>
            <a:ext cx="1517904" cy="1051560"/>
          </a:xfrm>
          <a:prstGeom prst="roundRect">
            <a:avLst>
              <a:gd name="adj" fmla="val 78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90976" y="3840480"/>
            <a:ext cx="1517904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3736696" y="4041648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forecasting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736696" y="4498848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LightGBM + HW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336896" y="3840480"/>
            <a:ext cx="1517904" cy="1051560"/>
          </a:xfrm>
          <a:prstGeom prst="roundRect">
            <a:avLst>
              <a:gd name="adj" fmla="val 78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336896" y="3840480"/>
            <a:ext cx="1517904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5" name="Text 23"/>
          <p:cNvSpPr/>
          <p:nvPr/>
        </p:nvSpPr>
        <p:spPr>
          <a:xfrm>
            <a:off x="5382616" y="4041648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inventory_opt.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382616" y="4498848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EOQ · SS · ROP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982816" y="3840480"/>
            <a:ext cx="1517904" cy="1051560"/>
          </a:xfrm>
          <a:prstGeom prst="roundRect">
            <a:avLst>
              <a:gd name="adj" fmla="val 78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982816" y="3840480"/>
            <a:ext cx="1517904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9" name="Text 27"/>
          <p:cNvSpPr/>
          <p:nvPr/>
        </p:nvSpPr>
        <p:spPr>
          <a:xfrm>
            <a:off x="7028536" y="4041648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anomaly_detect.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028536" y="4498848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Isolation Forest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628736" y="3840480"/>
            <a:ext cx="1517904" cy="1051560"/>
          </a:xfrm>
          <a:prstGeom prst="roundRect">
            <a:avLst>
              <a:gd name="adj" fmla="val 78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628736" y="3840480"/>
            <a:ext cx="1517904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3" name="Text 31"/>
          <p:cNvSpPr/>
          <p:nvPr/>
        </p:nvSpPr>
        <p:spPr>
          <a:xfrm>
            <a:off x="8674456" y="4041648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explainability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674456" y="4498848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SHAP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0274656" y="3840480"/>
            <a:ext cx="1517904" cy="1051560"/>
          </a:xfrm>
          <a:prstGeom prst="roundRect">
            <a:avLst>
              <a:gd name="adj" fmla="val 78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0274656" y="3840480"/>
            <a:ext cx="1517904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7" name="Text 35"/>
          <p:cNvSpPr/>
          <p:nvPr/>
        </p:nvSpPr>
        <p:spPr>
          <a:xfrm>
            <a:off x="10320376" y="4041648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order_generator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0320376" y="4498848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narudžbenica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852160" y="49560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↓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114800" y="5285232"/>
            <a:ext cx="3931920" cy="566928"/>
          </a:xfrm>
          <a:prstGeom prst="roundRect">
            <a:avLst>
              <a:gd name="adj" fmla="val 1612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114800" y="528523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Izlaz:  tabela + CSV / Excel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Demand Forecasting &amp; Inventory Optimization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817352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14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350"/>
                                        <p:tgtEl>
                                          <p:spTgt spid="2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18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350"/>
                                        <p:tgtEl>
                                          <p:spTgt spid="3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36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350"/>
                                        <p:tgtEl>
                                          <p:spTgt spid="5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54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350"/>
                                        <p:tgtEl>
                                          <p:spTgt spid="6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72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350"/>
                                        <p:tgtEl>
                                          <p:spTgt spid="8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90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350"/>
                                        <p:tgtEl>
                                          <p:spTgt spid="9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108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350"/>
                                        <p:tgtEl>
                                          <p:spTgt spid="10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126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350"/>
                                        <p:tgtEl>
                                          <p:spTgt spid="13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144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350"/>
                                        <p:tgtEl>
                                          <p:spTgt spid="14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162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9" dur="350"/>
                                        <p:tgtEl>
                                          <p:spTgt spid="17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KLJUČNE TEHNIČKE ODLUKE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Tri odluke koje su napravile razliku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56432" cy="3566160"/>
          </a:xfrm>
          <a:prstGeom prst="roundRect">
            <a:avLst>
              <a:gd name="adj" fmla="val 31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3456432" cy="868680"/>
          </a:xfrm>
          <a:prstGeom prst="roundRect">
            <a:avLst>
              <a:gd name="adj" fmla="val 12632"/>
            </a:avLst>
          </a:prstGeom>
          <a:solidFill>
            <a:srgbClr val="0F172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331720"/>
            <a:ext cx="3456432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38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A5E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IZAZOV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 leakage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6A34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RJEŠENJE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32004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shift(1) na rolling feature-ima; izbačena kolona Customers (same-day informacija).</a:t>
            </a:r>
            <a:endParaRPr lang="en-US" sz="13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736592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88720" y="471830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ne vidi budućnost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51960" y="1828800"/>
            <a:ext cx="3456432" cy="3566160"/>
          </a:xfrm>
          <a:prstGeom prst="roundRect">
            <a:avLst>
              <a:gd name="adj" fmla="val 31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251960" y="1828800"/>
            <a:ext cx="3456432" cy="868680"/>
          </a:xfrm>
          <a:prstGeom prst="roundRect">
            <a:avLst>
              <a:gd name="adj" fmla="val 12632"/>
            </a:avLst>
          </a:prstGeom>
          <a:solidFill>
            <a:srgbClr val="0F172A"/>
          </a:solidFill>
          <a:ln/>
        </p:spPr>
      </p:sp>
      <p:sp>
        <p:nvSpPr>
          <p:cNvPr id="15" name="Shape 12"/>
          <p:cNvSpPr/>
          <p:nvPr/>
        </p:nvSpPr>
        <p:spPr>
          <a:xfrm>
            <a:off x="4251960" y="2331720"/>
            <a:ext cx="3456432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Text 13"/>
          <p:cNvSpPr/>
          <p:nvPr/>
        </p:nvSpPr>
        <p:spPr>
          <a:xfrm>
            <a:off x="4526280" y="1938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A5E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IZAZOV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26280" y="2194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Pošteno mjerenje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526280" y="2926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6A34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RJEŠENJE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526280" y="32004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Rekurzivni forecast + rolling-origin kros-validacija na neviđenim prozorima.</a:t>
            </a:r>
            <a:endParaRPr lang="en-US" sz="135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4736592"/>
            <a:ext cx="292608" cy="29260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892040" y="471830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Realna, ne lažna tačnost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7955280" y="1828800"/>
            <a:ext cx="3456432" cy="3566160"/>
          </a:xfrm>
          <a:prstGeom prst="roundRect">
            <a:avLst>
              <a:gd name="adj" fmla="val 31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7955280" y="1828800"/>
            <a:ext cx="3456432" cy="868680"/>
          </a:xfrm>
          <a:prstGeom prst="roundRect">
            <a:avLst>
              <a:gd name="adj" fmla="val 12632"/>
            </a:avLst>
          </a:prstGeom>
          <a:solidFill>
            <a:srgbClr val="0F172A"/>
          </a:solidFill>
          <a:ln/>
        </p:spPr>
      </p:sp>
      <p:sp>
        <p:nvSpPr>
          <p:cNvPr id="24" name="Shape 20"/>
          <p:cNvSpPr/>
          <p:nvPr/>
        </p:nvSpPr>
        <p:spPr>
          <a:xfrm>
            <a:off x="7955280" y="2331720"/>
            <a:ext cx="3456432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5" name="Text 21"/>
          <p:cNvSpPr/>
          <p:nvPr/>
        </p:nvSpPr>
        <p:spPr>
          <a:xfrm>
            <a:off x="8229600" y="1938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A5E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IZAZOV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8229600" y="2194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Intervali pouzdanosti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8229600" y="2926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6A34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RJEŠENJE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8229600" y="32004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Quantile LightGBM (10% / 90% percentil) umjesto jedne tačke.</a:t>
            </a:r>
            <a:endParaRPr lang="en-US" sz="135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4736592"/>
            <a:ext cx="292608" cy="29260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8595360" y="471830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Raspon, ne lažna preciznost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548640" y="55778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Bonus: Prophet ne radi na Python 3.13 → napravljen opcionim, ulogu sezonskog modela preuzima Holt-Winters u ensemble-u.</a:t>
            </a:r>
            <a:endParaRPr lang="en-US" sz="1250" dirty="0"/>
          </a:p>
        </p:txBody>
      </p:sp>
      <p:sp>
        <p:nvSpPr>
          <p:cNvPr id="32" name="Text 27"/>
          <p:cNvSpPr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Demand Forecasting &amp; Inventory Optimization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10817352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14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350"/>
                                        <p:tgtEl>
                                          <p:spTgt spid="2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18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350"/>
                                        <p:tgtEl>
                                          <p:spTgt spid="3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36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350"/>
                                        <p:tgtEl>
                                          <p:spTgt spid="7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54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350"/>
                                        <p:tgtEl>
                                          <p:spTgt spid="8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72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350"/>
                                        <p:tgtEl>
                                          <p:spTgt spid="9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90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350"/>
                                        <p:tgtEl>
                                          <p:spTgt spid="10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108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350"/>
                                        <p:tgtEl>
                                          <p:spTgt spid="12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126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350"/>
                                        <p:tgtEl>
                                          <p:spTgt spid="16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144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350"/>
                                        <p:tgtEl>
                                          <p:spTgt spid="17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162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9" dur="350"/>
                                        <p:tgtEl>
                                          <p:spTgt spid="18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2563EB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37160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953" y="1542593"/>
            <a:ext cx="435254" cy="4352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3317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LIVE DEMO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41248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Kompletan tok rada — uživo u aplikaciji  ·  ~3 minuta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22960" y="4297680"/>
            <a:ext cx="242316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51560" y="4498848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6"/>
          <p:cNvSpPr/>
          <p:nvPr/>
        </p:nvSpPr>
        <p:spPr>
          <a:xfrm>
            <a:off x="105156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600200" y="4462272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Prognoza</a:t>
            </a:r>
            <a:endParaRPr lang="en-US" sz="13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+ interval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520440" y="4297680"/>
            <a:ext cx="242316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749040" y="4498848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0"/>
          <p:cNvSpPr/>
          <p:nvPr/>
        </p:nvSpPr>
        <p:spPr>
          <a:xfrm>
            <a:off x="374904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297680" y="4462272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Optimizacija</a:t>
            </a:r>
            <a:endParaRPr lang="en-US" sz="13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zaliha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217920" y="4297680"/>
            <a:ext cx="242316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46520" y="4498848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4"/>
          <p:cNvSpPr/>
          <p:nvPr/>
        </p:nvSpPr>
        <p:spPr>
          <a:xfrm>
            <a:off x="644652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995160" y="4462272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What-if</a:t>
            </a:r>
            <a:endParaRPr lang="en-US" sz="13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promocija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8915400" y="4297680"/>
            <a:ext cx="242316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144000" y="4498848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8"/>
          <p:cNvSpPr/>
          <p:nvPr/>
        </p:nvSpPr>
        <p:spPr>
          <a:xfrm>
            <a:off x="914400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692640" y="4462272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Narudžbenica</a:t>
            </a:r>
            <a:endParaRPr lang="en-US" sz="13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+ Excel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Demand Forecasting &amp; Inventory Optimization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817352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14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350"/>
                                        <p:tgtEl>
                                          <p:spTgt spid="5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18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350"/>
                                        <p:tgtEl>
                                          <p:spTgt spid="6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36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350"/>
                                        <p:tgtEl>
                                          <p:spTgt spid="9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54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350"/>
                                        <p:tgtEl>
                                          <p:spTgt spid="10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72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350"/>
                                        <p:tgtEl>
                                          <p:spTgt spid="13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90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350"/>
                                        <p:tgtEl>
                                          <p:spTgt spid="14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108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350"/>
                                        <p:tgtEl>
                                          <p:spTgt spid="17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126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350"/>
                                        <p:tgtEl>
                                          <p:spTgt spid="18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144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350"/>
                                        <p:tgtEl>
                                          <p:spTgt spid="21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162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9" dur="350"/>
                                        <p:tgtEl>
                                          <p:spTgt spid="22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REZULTATI I VRIJEDNOST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Mjerljivo bolje od ručnog planiranja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Greška prognoze (MAPE %) — backtest na 28 dana, manje je bolje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2103120"/>
          <a:ext cx="65836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360920" y="2057400"/>
            <a:ext cx="4279392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543800" y="20574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~14%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9098280" y="20574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MAPE — rolling-origin CV (LightGBM)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360920" y="3136392"/>
            <a:ext cx="4279392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543800" y="3136392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A34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26 / 26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9098280" y="313639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modula prošlo automatski test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360920" y="4215384"/>
            <a:ext cx="4279392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543800" y="4215384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A5E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&gt;2×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9098280" y="4215384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manja greška od naivnog pristupa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360920" y="5349240"/>
            <a:ext cx="4279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Niži troškovi zaliha  ·  manje stockout-a  ·  brže i objašnjivo odlučivanje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" y="59893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 Rezultati su demonstracioni — dobijeni na sintetičkim podacima. Metodologija je identična na realnim podacima.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Demand Forecasting &amp; Inventory Optimization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817352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14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350"/>
                                        <p:tgtEl>
                                          <p:spTgt spid="2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18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350"/>
                                        <p:tgtEl>
                                          <p:spTgt spid="3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36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350"/>
                                        <p:tgtEl>
                                          <p:spTgt spid="4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54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350"/>
                                        <p:tgtEl>
                                          <p:spTgt spid="7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72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350"/>
                                        <p:tgtEl>
                                          <p:spTgt spid="8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90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350"/>
                                        <p:tgtEl>
                                          <p:spTgt spid="10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108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350"/>
                                        <p:tgtEl>
                                          <p:spTgt spid="11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126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350"/>
                                        <p:tgtEl>
                                          <p:spTgt spid="13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144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350"/>
                                        <p:tgtEl>
                                          <p:spTgt spid="14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162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9" dur="350"/>
                                        <p:tgtEl>
                                          <p:spTgt spid="15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OGRANIČENJA I BUDUĆI RAZVOJ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Šta dalje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29200" cy="36576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031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TRENUTNA OGRANIČENJA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–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Single-series modeli (model po proizvodu)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–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podaci su sintetički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37033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–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File-based ulaz/izlaz, bez baze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4251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–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Pojednostavljena elastičnost u what-if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48006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–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Bez autentikacije / više korisnika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623560" y="33832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6611112" y="1828800"/>
            <a:ext cx="5029200" cy="365760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31152" y="21031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EA5E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BUDUĆI RAZVOJ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76872" y="26060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–"/>
            </a:pPr>
            <a:r>
              <a:rPr lang="en-US" sz="135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Napredni modeli: LSTM / DeepAR / TFT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976872" y="31546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–"/>
            </a:pPr>
            <a:r>
              <a:rPr lang="en-US" sz="135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Hijerarhijski forecast + reconciliation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976872" y="37033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–"/>
            </a:pPr>
            <a:r>
              <a:rPr lang="en-US" sz="135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Baza podataka + live ingestion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976872" y="4251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–"/>
            </a:pPr>
            <a:r>
              <a:rPr lang="en-US" sz="135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Optimizacija kalendara promocija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976872" y="48006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–"/>
            </a:pPr>
            <a:r>
              <a:rPr lang="en-US" sz="135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A/B test: preporuke vs stvarne narudžbe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57150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Modularna arhitektura omogućava dogradnju bez prepravke cijelog sistema.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Demand Forecasting &amp; Inventory Optimization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817352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14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350"/>
                                        <p:tgtEl>
                                          <p:spTgt spid="2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18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350"/>
                                        <p:tgtEl>
                                          <p:spTgt spid="3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36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350"/>
                                        <p:tgtEl>
                                          <p:spTgt spid="5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54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350"/>
                                        <p:tgtEl>
                                          <p:spTgt spid="6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72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350"/>
                                        <p:tgtEl>
                                          <p:spTgt spid="7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90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350"/>
                                        <p:tgtEl>
                                          <p:spTgt spid="8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108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350"/>
                                        <p:tgtEl>
                                          <p:spTgt spid="9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126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350"/>
                                        <p:tgtEl>
                                          <p:spTgt spid="10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144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350"/>
                                        <p:tgtEl>
                                          <p:spTgt spid="11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162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9" dur="350"/>
                                        <p:tgtEl>
                                          <p:spTgt spid="13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2926080"/>
            <a:ext cx="5486400" cy="5486400"/>
          </a:xfrm>
          <a:prstGeom prst="ellipse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A5E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ZAKLJUČAK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„Koliko da naručimo?“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Sada imamo odgovor.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68680" y="3575304"/>
            <a:ext cx="146304" cy="14630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35204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Problem:  </a:t>
            </a:r>
            <a:pPr indent="0" marL="0">
              <a:buNone/>
            </a:pPr>
            <a:r>
              <a:rPr lang="en-US" sz="155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skup višak ili manjak zaliha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68680" y="4178808"/>
            <a:ext cx="146304" cy="146304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4123944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Rješenje:  </a:t>
            </a:r>
            <a:pPr indent="0" marL="0">
              <a:buNone/>
            </a:pPr>
            <a:r>
              <a:rPr lang="en-US" sz="155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forecast + EOQ + objašnjenje + narudžbenica — u jednom alatu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68680" y="4782312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472744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Vrijednost:  </a:t>
            </a:r>
            <a:pPr indent="0" marL="0">
              <a:buNone/>
            </a:pPr>
            <a:r>
              <a:rPr lang="en-US" sz="155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niži troškovi, manje stockout-a, brže i objašnjivo odlučivanje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22960" y="5577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Hvala na pažnji   ·   Pitanja?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Demand Forecasting &amp; Inventory Optimization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817352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/ 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14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350"/>
                                        <p:tgtEl>
                                          <p:spTgt spid="3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18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350"/>
                                        <p:tgtEl>
                                          <p:spTgt spid="4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36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350"/>
                                        <p:tgtEl>
                                          <p:spTgt spid="6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54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350"/>
                                        <p:tgtEl>
                                          <p:spTgt spid="8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72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350"/>
                                        <p:tgtEl>
                                          <p:spTgt spid="10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90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350"/>
                                        <p:tgtEl>
                                          <p:spTgt spid="11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108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350"/>
                                        <p:tgtEl>
                                          <p:spTgt spid="12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Demand Forecasting &amp; Inventory Optimization</dc:title>
  <dc:subject>PptxGenJS Presentation</dc:subject>
  <dc:creator>ISZPO 2026</dc:creator>
  <cp:lastModifiedBy>ISZPO 2026</cp:lastModifiedBy>
  <cp:revision>1</cp:revision>
  <dcterms:created xsi:type="dcterms:W3CDTF">2026-06-07T13:08:32Z</dcterms:created>
  <dcterms:modified xsi:type="dcterms:W3CDTF">2026-06-07T13:08:32Z</dcterms:modified>
</cp:coreProperties>
</file>